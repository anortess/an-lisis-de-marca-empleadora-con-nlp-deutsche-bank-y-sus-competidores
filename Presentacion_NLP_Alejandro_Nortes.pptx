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362" autoAdjust="0"/>
  </p:normalViewPr>
  <p:slideViewPr>
    <p:cSldViewPr snapToGrid="0">
      <p:cViewPr varScale="1">
        <p:scale>
          <a:sx n="110" d="100"/>
          <a:sy n="110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Deutsche Bank</c:v>
          </c:tx>
          <c:spPr>
            <a:ln w="38100">
              <a:solidFill>
                <a:srgbClr val="008B80"/>
              </a:solidFill>
            </a:ln>
          </c:spPr>
          <c:marker>
            <c:symbol val="circle"/>
            <c:size val="8"/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numCache>
            </c:numRef>
          </c:cat>
          <c:val>
            <c:numRef>
              <c:f>'Chart Data'!$B$2:$B$7</c:f>
              <c:numCache>
                <c:formatCode>0.0</c:formatCode>
                <c:ptCount val="6"/>
                <c:pt idx="0">
                  <c:v>3.4</c:v>
                </c:pt>
                <c:pt idx="1">
                  <c:v>3.4</c:v>
                </c:pt>
                <c:pt idx="2">
                  <c:v>3.74</c:v>
                </c:pt>
                <c:pt idx="3">
                  <c:v>3.8</c:v>
                </c:pt>
                <c:pt idx="4">
                  <c:v>3.84</c:v>
                </c:pt>
                <c:pt idx="5">
                  <c:v>3.87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7A3-4BF7-99AC-DAE5E5E5C80A}"/>
            </c:ext>
          </c:extLst>
        </c:ser>
        <c:ser>
          <c:idx val="1"/>
          <c:order val="1"/>
          <c:tx>
            <c:v>Media de competidores</c:v>
          </c:tx>
          <c:spPr>
            <a:ln w="28575">
              <a:solidFill>
                <a:srgbClr val="607381"/>
              </a:solidFill>
            </a:ln>
          </c:spPr>
          <c:marker>
            <c:symbol val="circle"/>
            <c:size val="6"/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</c:numCache>
            </c:numRef>
          </c:cat>
          <c:val>
            <c:numRef>
              <c:f>'Chart Data'!$D$2:$D$7</c:f>
              <c:numCache>
                <c:formatCode>0.0</c:formatCode>
                <c:ptCount val="6"/>
                <c:pt idx="0">
                  <c:v>3.74</c:v>
                </c:pt>
                <c:pt idx="1">
                  <c:v>3.73</c:v>
                </c:pt>
                <c:pt idx="2">
                  <c:v>3.88</c:v>
                </c:pt>
                <c:pt idx="3">
                  <c:v>3.87</c:v>
                </c:pt>
                <c:pt idx="4">
                  <c:v>3.89</c:v>
                </c:pt>
                <c:pt idx="5">
                  <c:v>3.89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7A3-4BF7-99AC-DAE5E5E5C8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425">
                <a:solidFill>
                  <a:srgbClr val="607381"/>
                </a:solidFill>
                <a:latin typeface="Nimbus Sans"/>
                <a:ea typeface="Nimbus Sans"/>
                <a:cs typeface="Nimbus Sans"/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.0999999999999996"/>
          <c:min val="3.2"/>
        </c:scaling>
        <c:delete val="0"/>
        <c:axPos val="l"/>
        <c:majorGridlines>
          <c:spPr>
            <a:ln w="9525">
              <a:solidFill>
                <a:srgbClr val="DCE3E5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425">
                <a:solidFill>
                  <a:srgbClr val="607381"/>
                </a:solidFill>
                <a:latin typeface="Nimbus Sans"/>
                <a:ea typeface="Nimbus Sans"/>
                <a:cs typeface="Nimbus Sans"/>
              </a:defRPr>
            </a:pPr>
            <a:endParaRPr lang="es-ES"/>
          </a:p>
        </c:txPr>
        <c:crossAx val="48650112"/>
        <c:crosses val="autoZero"/>
        <c:crossBetween val="between"/>
        <c:majorUnit val="0.2"/>
      </c:valAx>
      <c:spPr>
        <a:noFill/>
      </c:spPr>
    </c:plotArea>
    <c:legend>
      <c:legendPos val="b"/>
      <c:layout/>
      <c:overlay val="0"/>
      <c:txPr>
        <a:bodyPr anchorCtr="1"/>
        <a:lstStyle/>
        <a:p>
          <a:pPr>
            <a:defRPr sz="1425">
              <a:solidFill>
                <a:srgbClr val="607381"/>
              </a:solidFill>
              <a:latin typeface="Nimbus Sans"/>
              <a:ea typeface="Nimbus Sans"/>
              <a:cs typeface="Nimbus Sans"/>
            </a:defRPr>
          </a:pPr>
          <a:endParaRPr lang="es-ES"/>
        </a:p>
      </c:txPr>
    </c:legend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Gap de balance (pp)</c:v>
          </c:tx>
          <c:spPr>
            <a:solidFill>
              <a:srgbClr val="008B80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BF593E"/>
              </a:solidFill>
            </c:spPr>
            <c:extLst>
              <c:ext xmlns:c16="http://schemas.microsoft.com/office/drawing/2014/chart" uri="{C3380CC4-5D6E-409C-BE32-E72D297353CC}">
                <c16:uniqueId val="{00000001-AB9A-4402-BEE9-316B789B55EC}"/>
              </c:ext>
            </c:extLst>
          </c:dPt>
          <c:dPt>
            <c:idx val="1"/>
            <c:invertIfNegative val="0"/>
            <c:bubble3D val="0"/>
            <c:spPr>
              <a:solidFill>
                <a:srgbClr val="BF593E"/>
              </a:solidFill>
            </c:spPr>
            <c:extLst>
              <c:ext xmlns:c16="http://schemas.microsoft.com/office/drawing/2014/chart" uri="{C3380CC4-5D6E-409C-BE32-E72D297353CC}">
                <c16:uniqueId val="{00000003-AB9A-4402-BEE9-316B789B55EC}"/>
              </c:ext>
            </c:extLst>
          </c:dPt>
          <c:dPt>
            <c:idx val="2"/>
            <c:invertIfNegative val="0"/>
            <c:bubble3D val="0"/>
            <c:spPr>
              <a:solidFill>
                <a:srgbClr val="BF593E"/>
              </a:solidFill>
            </c:spPr>
            <c:extLst>
              <c:ext xmlns:c16="http://schemas.microsoft.com/office/drawing/2014/chart" uri="{C3380CC4-5D6E-409C-BE32-E72D297353CC}">
                <c16:uniqueId val="{00000005-AB9A-4402-BEE9-316B789B55E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75" b="1">
                    <a:solidFill>
                      <a:srgbClr val="173246"/>
                    </a:solidFill>
                    <a:latin typeface="Nimbus Sans"/>
                    <a:ea typeface="Nimbus Sans"/>
                    <a:cs typeface="Nimbus Sans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'Chart Data'!$A$2:$A$7</c:f>
              <c:strCache>
                <c:ptCount val="6"/>
                <c:pt idx="0">
                  <c:v>Compensación</c:v>
                </c:pt>
                <c:pt idx="1">
                  <c:v>Carrera</c:v>
                </c:pt>
                <c:pt idx="2">
                  <c:v>Tecnología</c:v>
                </c:pt>
                <c:pt idx="3">
                  <c:v>Cultura</c:v>
                </c:pt>
                <c:pt idx="4">
                  <c:v>Procesos</c:v>
                </c:pt>
                <c:pt idx="5">
                  <c:v>Conciliación</c:v>
                </c:pt>
              </c:strCache>
            </c:strRef>
          </c:cat>
          <c:val>
            <c:numRef>
              <c:f>'Chart Data'!$B$2:$B$7</c:f>
              <c:numCache>
                <c:formatCode>\+0.0;\-0.0;0.0</c:formatCode>
                <c:ptCount val="6"/>
                <c:pt idx="0">
                  <c:v>-5</c:v>
                </c:pt>
                <c:pt idx="1">
                  <c:v>-3.2</c:v>
                </c:pt>
                <c:pt idx="2">
                  <c:v>-1.2</c:v>
                </c:pt>
                <c:pt idx="3">
                  <c:v>1.9</c:v>
                </c:pt>
                <c:pt idx="4">
                  <c:v>2</c:v>
                </c:pt>
                <c:pt idx="5">
                  <c:v>9.3000000000000007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B9A-4402-BEE9-316B789B55E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425">
                <a:solidFill>
                  <a:srgbClr val="607381"/>
                </a:solidFill>
                <a:latin typeface="Nimbus Sans"/>
                <a:ea typeface="Nimbus Sans"/>
                <a:cs typeface="Nimbus Sans"/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2"/>
          <c:min val="-6"/>
        </c:scaling>
        <c:delete val="0"/>
        <c:axPos val="b"/>
        <c:majorGridlines>
          <c:spPr>
            <a:ln w="9525">
              <a:solidFill>
                <a:srgbClr val="DCE3E5"/>
              </a:solidFill>
            </a:ln>
          </c:spPr>
        </c:majorGridlines>
        <c:numFmt formatCode="\+0.0;\-0.0;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425">
                <a:solidFill>
                  <a:srgbClr val="607381"/>
                </a:solidFill>
                <a:latin typeface="Nimbus Sans"/>
                <a:ea typeface="Nimbus Sans"/>
                <a:cs typeface="Nimbus Sans"/>
              </a:defRPr>
            </a:pPr>
            <a:endParaRPr lang="es-ES"/>
          </a:p>
        </c:txPr>
        <c:crossAx val="48650112"/>
        <c:crosses val="autoZero"/>
        <c:crossBetween val="between"/>
        <c:majorUnit val="3"/>
      </c:valAx>
      <c:spPr>
        <a:noFill/>
      </c:spPr>
    </c:plotArea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Compensación</c:v>
          </c:tx>
          <c:spPr>
            <a:ln w="0">
              <a:noFill/>
            </a:ln>
          </c:spPr>
          <c:marker>
            <c:symbol val="circle"/>
            <c:size val="12"/>
          </c:marker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z="1575" b="1">
                        <a:solidFill>
                          <a:srgbClr val="BF593E"/>
                        </a:solidFill>
                        <a:latin typeface="Nimbus Sans"/>
                        <a:ea typeface="Nimbus Sans"/>
                        <a:cs typeface="Nimbus Sans"/>
                      </a:rPr>
                      <a:t>Compensación</a:t>
                    </a:r>
                  </a:p>
                </c:rich>
              </c:tx>
              <c:spPr/>
              <c:showLegendKey val="1"/>
              <c:showVal val="0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0-E0E1-4963-A915-B4D2310B550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Data'!$A$2:$A$2</c:f>
              <c:numCache>
                <c:formatCode>General</c:formatCode>
                <c:ptCount val="1"/>
                <c:pt idx="0">
                  <c:v>9.4</c:v>
                </c:pt>
              </c:numCache>
            </c:numRef>
          </c:xVal>
          <c:yVal>
            <c:numRef>
              <c:f>'Chart Data'!$B$2:$B$2</c:f>
              <c:numCache>
                <c:formatCode>0</c:formatCode>
                <c:ptCount val="1"/>
                <c:pt idx="0">
                  <c:v>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E0E1-4963-A915-B4D2310B5507}"/>
            </c:ext>
          </c:extLst>
        </c:ser>
        <c:ser>
          <c:idx val="1"/>
          <c:order val="1"/>
          <c:tx>
            <c:v>Carrera</c:v>
          </c:tx>
          <c:spPr>
            <a:ln w="0">
              <a:noFill/>
            </a:ln>
          </c:spPr>
          <c:marker>
            <c:symbol val="circle"/>
            <c:size val="12"/>
          </c:marker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z="1575" b="1">
                        <a:solidFill>
                          <a:srgbClr val="BF593E"/>
                        </a:solidFill>
                        <a:latin typeface="Nimbus Sans"/>
                        <a:ea typeface="Nimbus Sans"/>
                        <a:cs typeface="Nimbus Sans"/>
                      </a:rPr>
                      <a:t>Carrera</a:t>
                    </a:r>
                  </a:p>
                </c:rich>
              </c:tx>
              <c:spPr/>
              <c:showLegendKey val="1"/>
              <c:showVal val="0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E0E1-4963-A915-B4D2310B550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Data'!$C$2:$C$2</c:f>
              <c:numCache>
                <c:formatCode>General</c:formatCode>
                <c:ptCount val="1"/>
                <c:pt idx="0">
                  <c:v>7.1</c:v>
                </c:pt>
              </c:numCache>
            </c:numRef>
          </c:xVal>
          <c:yVal>
            <c:numRef>
              <c:f>'Chart Data'!$D$2:$D$2</c:f>
              <c:numCache>
                <c:formatCode>0</c:formatCode>
                <c:ptCount val="1"/>
                <c:pt idx="0">
                  <c:v>3.2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E0E1-4963-A915-B4D2310B5507}"/>
            </c:ext>
          </c:extLst>
        </c:ser>
        <c:ser>
          <c:idx val="2"/>
          <c:order val="2"/>
          <c:tx>
            <c:v>Tecnología</c:v>
          </c:tx>
          <c:spPr>
            <a:ln w="0">
              <a:noFill/>
            </a:ln>
          </c:spPr>
          <c:marker>
            <c:symbol val="circle"/>
            <c:size val="12"/>
          </c:marker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z="1575" b="1">
                        <a:solidFill>
                          <a:srgbClr val="008B80"/>
                        </a:solidFill>
                        <a:latin typeface="Nimbus Sans"/>
                        <a:ea typeface="Nimbus Sans"/>
                        <a:cs typeface="Nimbus Sans"/>
                      </a:rPr>
                      <a:t>Tecnología</a:t>
                    </a:r>
                  </a:p>
                </c:rich>
              </c:tx>
              <c:spPr/>
              <c:showLegendKey val="1"/>
              <c:showVal val="0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E0E1-4963-A915-B4D2310B550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'Chart Data'!$E$2:$E$2</c:f>
              <c:numCache>
                <c:formatCode>General</c:formatCode>
                <c:ptCount val="1"/>
                <c:pt idx="0">
                  <c:v>3.8</c:v>
                </c:pt>
              </c:numCache>
            </c:numRef>
          </c:xVal>
          <c:yVal>
            <c:numRef>
              <c:f>'Chart Data'!$F$2:$F$2</c:f>
              <c:numCache>
                <c:formatCode>0</c:formatCode>
                <c:ptCount val="1"/>
                <c:pt idx="0">
                  <c:v>1.2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E0E1-4963-A915-B4D2310B5507}"/>
            </c:ext>
          </c:extLst>
        </c:ser>
        <c:ser>
          <c:idx val="3"/>
          <c:order val="3"/>
          <c:tx>
            <c:v>Otras categorías</c:v>
          </c:tx>
          <c:spPr>
            <a:ln w="0">
              <a:noFill/>
            </a:ln>
          </c:spPr>
          <c:marker>
            <c:symbol val="circle"/>
            <c:size val="8"/>
          </c:marker>
          <c:xVal>
            <c:numRef>
              <c:f>'Chart Data'!$G$2:$G$9</c:f>
              <c:numCache>
                <c:formatCode>General</c:formatCode>
                <c:ptCount val="8"/>
                <c:pt idx="0">
                  <c:v>0</c:v>
                </c:pt>
                <c:pt idx="1">
                  <c:v>1.1000000000000001</c:v>
                </c:pt>
                <c:pt idx="2">
                  <c:v>0.8</c:v>
                </c:pt>
                <c:pt idx="3">
                  <c:v>4.7</c:v>
                </c:pt>
                <c:pt idx="4">
                  <c:v>0</c:v>
                </c:pt>
                <c:pt idx="5">
                  <c:v>4.9000000000000004</c:v>
                </c:pt>
                <c:pt idx="6">
                  <c:v>3.7</c:v>
                </c:pt>
                <c:pt idx="7">
                  <c:v>9.8000000000000007</c:v>
                </c:pt>
              </c:numCache>
            </c:numRef>
          </c:xVal>
          <c:yVal>
            <c:numRef>
              <c:f>'Chart Data'!$H$2:$H$9</c:f>
              <c:numCache>
                <c:formatCode>0</c:formatCode>
                <c:ptCount val="8"/>
                <c:pt idx="0">
                  <c:v>0.9</c:v>
                </c:pt>
                <c:pt idx="1">
                  <c:v>0.6</c:v>
                </c:pt>
                <c:pt idx="2">
                  <c:v>0.2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E0E1-4963-A915-B4D2310B55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w="9525">
              <a:solidFill>
                <a:srgbClr val="DCE3E5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s-ES" sz="1425">
                    <a:solidFill>
                      <a:srgbClr val="607381"/>
                    </a:solidFill>
                    <a:latin typeface="Nimbus Sans"/>
                    <a:ea typeface="Nimbus Sans"/>
                    <a:cs typeface="Nimbus Sans"/>
                  </a:rPr>
                  <a:t>Desventaja frente a peers (pp)</a:t>
                </a:r>
              </a:p>
            </c:rich>
          </c:tx>
          <c:layout/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425">
                <a:solidFill>
                  <a:srgbClr val="607381"/>
                </a:solidFill>
                <a:latin typeface="Nimbus Sans"/>
                <a:ea typeface="Nimbus Sans"/>
                <a:cs typeface="Nimbus Sans"/>
              </a:defRPr>
            </a:pPr>
            <a:endParaRPr lang="es-ES"/>
          </a:p>
        </c:txPr>
        <c:crossAx val="48650112"/>
        <c:crosses val="autoZero"/>
        <c:crossBetween val="midCat"/>
        <c:majorUnit val="1"/>
      </c:valAx>
      <c:valAx>
        <c:axId val="48650112"/>
        <c:scaling>
          <c:orientation val="minMax"/>
          <c:max val="12"/>
          <c:min val="0"/>
        </c:scaling>
        <c:delete val="0"/>
        <c:axPos val="b"/>
        <c:majorGridlines>
          <c:spPr>
            <a:ln w="9525">
              <a:solidFill>
                <a:srgbClr val="DCE3E5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s-ES" sz="1425">
                    <a:solidFill>
                      <a:srgbClr val="607381"/>
                    </a:solidFill>
                    <a:latin typeface="Nimbus Sans"/>
                    <a:ea typeface="Nimbus Sans"/>
                    <a:cs typeface="Nimbus Sans"/>
                  </a:rPr>
                  <a:t>Peso en cons de DB (%)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425">
                <a:solidFill>
                  <a:srgbClr val="607381"/>
                </a:solidFill>
                <a:latin typeface="Nimbus Sans"/>
                <a:ea typeface="Nimbus Sans"/>
                <a:cs typeface="Nimbus Sans"/>
              </a:defRPr>
            </a:pPr>
            <a:endParaRPr lang="es-ES"/>
          </a:p>
        </c:txPr>
        <c:crossAx val="48672768"/>
        <c:crosses val="autoZero"/>
        <c:crossBetween val="midCat"/>
        <c:majorUnit val="3"/>
      </c:valAx>
      <c:spPr>
        <a:noFill/>
      </c:spPr>
    </c:plotArea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D9CE8E83-D155-4B58-9FFE-244F36AF85CD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07A466-4F8B-40D1-9B18-25ED9E83A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E0EF6561-B4ED-4D9E-8CA9-30BA80FFCC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1E46FD77-BA9E-475A-8F03-018E974F005B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83B3ADBC-E593-4E4A-9491-63F7A19C0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9E805A91-AC23-474F-8367-820D0BA9259D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3E9E634-997B-42E8-9E99-59861B650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DB5CBCF6-6E49-42DD-921A-4A0B790E7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826226E2-5A9E-47E9-916B-6F2834553240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1E1E8ED-B5B2-4E4C-BBEF-597A77736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08EE37E9-0CEE-440F-A161-2637ACF74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40F476FF-B175-4BAD-A1DB-7E795487846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F4CEAFAA-08C2-4264-880E-BE3E740F9F90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E45A708-F79E-4D1E-B572-B28AFCE0F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32BCC325-6369-4EE0-A60B-07B04FC59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0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0677FB67-2A58-493E-8F69-A97BA19C88DE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9048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650" b="1">
                <a:solidFill>
                  <a:srgbClr val="93CCC6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93CCC6"/>
                </a:solidFill>
                <a:latin typeface="Nimbus Sans"/>
                <a:ea typeface="Nimbus Sans"/>
                <a:cs typeface="Nimbus Sans"/>
              </a:rPr>
              <a:t>PROYECTO DE NLP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770D796-B5F1-4268-9147-4EC79B229F69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572750" cy="1504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49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49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Marca empleadora</a:t>
            </a:r>
          </a:p>
          <a:p>
            <a:pPr>
              <a:defRPr sz="49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49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en Deutsche Bank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7708C00-2399-43B9-9CF3-3C8653E87763}"/>
              </a:ext>
            </a:extLst>
          </p:cNvPr>
          <p:cNvSpPr>
            <a:spLocks noGrp="1"/>
          </p:cNvSpPr>
          <p:nvPr/>
        </p:nvSpPr>
        <p:spPr>
          <a:xfrm>
            <a:off x="609600" y="300990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325" b="0">
                <a:solidFill>
                  <a:srgbClr val="D5E4E9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D5E4E9"/>
                </a:solidFill>
                <a:latin typeface="Nimbus Sans"/>
                <a:ea typeface="Nimbus Sans"/>
                <a:cs typeface="Nimbus Sans"/>
              </a:rPr>
              <a:t>Diagnóstico con reseñas de Glassdoor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5A6761A-F2FE-4E7C-ADDF-0F0B7E8183DA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10572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¿Qué fortalezas conservar y qué debe investigar RRHH?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2322D60-581C-48CE-A3BB-F958262C8CC7}"/>
              </a:ext>
            </a:extLst>
          </p:cNvPr>
          <p:cNvSpPr>
            <a:spLocks noGrp="1"/>
          </p:cNvSpPr>
          <p:nvPr/>
        </p:nvSpPr>
        <p:spPr>
          <a:xfrm>
            <a:off x="609600" y="4895850"/>
            <a:ext cx="41433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550" b="1">
                <a:solidFill>
                  <a:srgbClr val="93CCC6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93CCC6"/>
                </a:solidFill>
                <a:latin typeface="Nimbus Sans"/>
                <a:ea typeface="Nimbus Sans"/>
                <a:cs typeface="Nimbus Sans"/>
              </a:rPr>
              <a:t>55.152 reseñas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F1BA8A7-94FD-401C-AAA7-E0F88EDF6CE0}"/>
              </a:ext>
            </a:extLst>
          </p:cNvPr>
          <p:cNvSpPr>
            <a:spLocks noGrp="1"/>
          </p:cNvSpPr>
          <p:nvPr/>
        </p:nvSpPr>
        <p:spPr>
          <a:xfrm>
            <a:off x="609600" y="5362575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650" b="0">
                <a:solidFill>
                  <a:srgbClr val="D5E4E9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D5E4E9"/>
                </a:solidFill>
                <a:latin typeface="Nimbus Sans"/>
                <a:ea typeface="Nimbus Sans"/>
                <a:cs typeface="Nimbus Sans"/>
              </a:rPr>
              <a:t>EDA completo. Julio 2018 a abril 2023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88439E-1C55-45B3-8094-E7887AD23BFC}"/>
              </a:ext>
            </a:extLst>
          </p:cNvPr>
          <p:cNvSpPr>
            <a:spLocks noGrp="1"/>
          </p:cNvSpPr>
          <p:nvPr/>
        </p:nvSpPr>
        <p:spPr>
          <a:xfrm>
            <a:off x="6619875" y="489585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550" b="1">
                <a:solidFill>
                  <a:srgbClr val="93CCC6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93CCC6"/>
                </a:solidFill>
                <a:latin typeface="Nimbus Sans"/>
                <a:ea typeface="Nimbus Sans"/>
                <a:cs typeface="Nimbus Sans"/>
              </a:rPr>
              <a:t>5 bancos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69411BB-DB54-429C-A0BD-A1A2D2A8E00C}"/>
              </a:ext>
            </a:extLst>
          </p:cNvPr>
          <p:cNvSpPr>
            <a:spLocks noGrp="1"/>
          </p:cNvSpPr>
          <p:nvPr/>
        </p:nvSpPr>
        <p:spPr>
          <a:xfrm>
            <a:off x="6619875" y="5362574"/>
            <a:ext cx="5000625" cy="1152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650" b="0">
                <a:solidFill>
                  <a:srgbClr val="D5E4E9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 dirty="0">
                <a:solidFill>
                  <a:srgbClr val="D5E4E9"/>
                </a:solidFill>
                <a:latin typeface="Nimbus Sans"/>
                <a:ea typeface="Nimbus Sans"/>
                <a:cs typeface="Nimbus Sans"/>
              </a:rPr>
              <a:t>Deutsche Bank y </a:t>
            </a:r>
            <a:r>
              <a:rPr sz="1650" b="0" dirty="0" err="1">
                <a:solidFill>
                  <a:srgbClr val="D5E4E9"/>
                </a:solidFill>
                <a:latin typeface="Nimbus Sans"/>
                <a:ea typeface="Nimbus Sans"/>
                <a:cs typeface="Nimbus Sans"/>
              </a:rPr>
              <a:t>cuatro</a:t>
            </a:r>
            <a:r>
              <a:rPr sz="1650" b="0" dirty="0">
                <a:solidFill>
                  <a:srgbClr val="D5E4E9"/>
                </a:solidFill>
                <a:latin typeface="Nimbus Sans"/>
                <a:ea typeface="Nimbus Sans"/>
                <a:cs typeface="Nimbus Sans"/>
              </a:rPr>
              <a:t> </a:t>
            </a:r>
            <a:r>
              <a:rPr sz="1650" b="0" dirty="0" err="1" smtClean="0">
                <a:solidFill>
                  <a:srgbClr val="D5E4E9"/>
                </a:solidFill>
                <a:latin typeface="Nimbus Sans"/>
                <a:ea typeface="Nimbus Sans"/>
                <a:cs typeface="Nimbus Sans"/>
              </a:rPr>
              <a:t>competidores</a:t>
            </a:r>
            <a:r>
              <a:rPr lang="es-ES" sz="1650" b="0" dirty="0" smtClean="0">
                <a:solidFill>
                  <a:srgbClr val="D5E4E9"/>
                </a:solidFill>
                <a:latin typeface="Nimbus Sans"/>
                <a:ea typeface="Nimbus Sans"/>
                <a:cs typeface="Nimbus Sans"/>
              </a:rPr>
              <a:t>:</a:t>
            </a:r>
            <a:br>
              <a:rPr lang="es-ES" sz="1650" b="0" dirty="0" smtClean="0">
                <a:solidFill>
                  <a:srgbClr val="D5E4E9"/>
                </a:solidFill>
                <a:latin typeface="Nimbus Sans"/>
                <a:ea typeface="Nimbus Sans"/>
                <a:cs typeface="Nimbus Sans"/>
              </a:rPr>
            </a:br>
            <a:r>
              <a:rPr lang="es-ES" sz="1650" b="0" dirty="0" smtClean="0">
                <a:solidFill>
                  <a:srgbClr val="D5E4E9"/>
                </a:solidFill>
                <a:latin typeface="Nimbus Sans"/>
                <a:ea typeface="Nimbus Sans"/>
                <a:cs typeface="Nimbus Sans"/>
              </a:rPr>
              <a:t>	</a:t>
            </a:r>
            <a:r>
              <a:rPr lang="es-ES" dirty="0"/>
              <a:t>J.P. Morgan, Barclays, </a:t>
            </a:r>
            <a:r>
              <a:rPr lang="es-ES" dirty="0" err="1"/>
              <a:t>Citi</a:t>
            </a:r>
            <a:r>
              <a:rPr lang="es-ES" dirty="0"/>
              <a:t> y HSBC</a:t>
            </a:r>
            <a:endParaRPr sz="1650" b="0" dirty="0">
              <a:solidFill>
                <a:srgbClr val="D5E4E9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3E9A0FB-FBC0-45FF-8C87-5B153B8D8CD2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10001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Alejandro Nortes del Rio-Hortega</a:t>
            </a:r>
          </a:p>
        </p:txBody>
      </p:sp>
    </p:spTree>
    <p:extLst>
      <p:ext uri="{BB962C8B-B14F-4D97-AF65-F5344CB8AC3E}">
        <p14:creationId xmlns:p14="http://schemas.microsoft.com/office/powerpoint/2010/main" val="112655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BEB3CA58-19A4-4BA1-9062-07DF5A11DC74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11049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225" b="1">
                <a:solidFill>
                  <a:srgbClr val="173246"/>
                </a:solidFill>
                <a:latin typeface="Nimbus Sans"/>
                <a:ea typeface="Nimbus Sans"/>
                <a:cs typeface="Nimbus Sans"/>
              </a:defRPr>
            </a:pPr>
            <a:r>
              <a:rPr sz="3225" b="1">
                <a:solidFill>
                  <a:srgbClr val="173246"/>
                </a:solidFill>
                <a:latin typeface="Nimbus Sans"/>
                <a:ea typeface="Nimbus Sans"/>
                <a:cs typeface="Nimbus Sans"/>
              </a:rPr>
              <a:t>El rating mejora y se acerca a los competidores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BB7E69B-2E19-49B8-B152-61E00555D864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00" b="0">
                <a:solidFill>
                  <a:srgbClr val="60738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07381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E02229C-9A2B-43FB-9634-85066042C78F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6191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1">
                <a:solidFill>
                  <a:srgbClr val="173246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73246"/>
                </a:solidFill>
                <a:latin typeface="Nimbus Sans"/>
                <a:ea typeface="Nimbus Sans"/>
                <a:cs typeface="Nimbus Sans"/>
              </a:rPr>
              <a:t>Rating medio anual (escala original: 1 a 5)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476250" y="1800225"/>
          <a:ext cx="7181850" cy="3286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FE6123FA-8563-4F33-9D83-3497B97B0632}"/>
              </a:ext>
            </a:extLst>
          </p:cNvPr>
          <p:cNvSpPr>
            <a:spLocks noGrp="1"/>
          </p:cNvSpPr>
          <p:nvPr/>
        </p:nvSpPr>
        <p:spPr>
          <a:xfrm>
            <a:off x="8001000" y="1409700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1">
                <a:solidFill>
                  <a:srgbClr val="173246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73246"/>
                </a:solidFill>
                <a:latin typeface="Nimbus Sans"/>
                <a:ea typeface="Nimbus Sans"/>
                <a:cs typeface="Nimbus Sans"/>
              </a:rPr>
              <a:t>Resumen de todo el periodo</a:t>
            </a:r>
          </a:p>
        </p:txBody>
      </p:sp>
      <p:graphicFrame>
        <p:nvGraphicFramePr>
          <p:cNvPr id="15" name="Tabla 14"/>
          <p:cNvGraphicFramePr/>
          <p:nvPr/>
        </p:nvGraphicFramePr>
        <p:xfrm>
          <a:off x="7905750" y="1866900"/>
          <a:ext cx="3810000" cy="300990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16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Banco</a:t>
                      </a:r>
                    </a:p>
                  </a:txBody>
                  <a:tcPr marL="114300" marR="95250" marT="95250" marB="95250">
                    <a:solidFill>
                      <a:srgbClr val="15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Rating</a:t>
                      </a:r>
                    </a:p>
                  </a:txBody>
                  <a:tcPr marL="114300" marR="95250" marT="95250" marB="95250">
                    <a:solidFill>
                      <a:srgbClr val="15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Recomienda</a:t>
                      </a:r>
                    </a:p>
                  </a:txBody>
                  <a:tcPr marL="114300" marR="95250" marT="95250" marB="95250">
                    <a:solidFill>
                      <a:srgbClr val="153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J.P. Morgan</a:t>
                      </a:r>
                    </a:p>
                  </a:txBody>
                  <a:tcPr marL="11430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4,01</a:t>
                      </a:r>
                    </a:p>
                  </a:txBody>
                  <a:tcPr marL="11430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49,9 %</a:t>
                      </a:r>
                    </a:p>
                  </a:txBody>
                  <a:tcPr marL="114300" marR="95250" marT="95250" marB="9525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Barclays</a:t>
                      </a:r>
                    </a:p>
                  </a:txBody>
                  <a:tcPr marL="114300" marR="95250" marT="95250" marB="95250">
                    <a:solidFill>
                      <a:srgbClr val="ED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3,89</a:t>
                      </a:r>
                    </a:p>
                  </a:txBody>
                  <a:tcPr marL="114300" marR="95250" marT="95250" marB="95250">
                    <a:solidFill>
                      <a:srgbClr val="ED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48,0 %</a:t>
                      </a:r>
                    </a:p>
                  </a:txBody>
                  <a:tcPr marL="114300" marR="95250" marT="95250" marB="95250">
                    <a:solidFill>
                      <a:srgbClr val="ED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Citi</a:t>
                      </a:r>
                    </a:p>
                  </a:txBody>
                  <a:tcPr marL="11430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3,78</a:t>
                      </a:r>
                    </a:p>
                  </a:txBody>
                  <a:tcPr marL="11430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45,7 %</a:t>
                      </a:r>
                    </a:p>
                  </a:txBody>
                  <a:tcPr marL="114300" marR="95250" marT="95250" marB="9525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HSBC</a:t>
                      </a:r>
                    </a:p>
                  </a:txBody>
                  <a:tcPr marL="114300" marR="95250" marT="95250" marB="95250">
                    <a:solidFill>
                      <a:srgbClr val="ED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3,74</a:t>
                      </a:r>
                    </a:p>
                  </a:txBody>
                  <a:tcPr marL="114300" marR="95250" marT="95250" marB="95250">
                    <a:solidFill>
                      <a:srgbClr val="ED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42,6 %</a:t>
                      </a:r>
                    </a:p>
                  </a:txBody>
                  <a:tcPr marL="114300" marR="95250" marT="95250" marB="95250">
                    <a:solidFill>
                      <a:srgbClr val="ED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Deutsche Bank</a:t>
                      </a:r>
                    </a:p>
                  </a:txBody>
                  <a:tcPr marL="11430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3,73</a:t>
                      </a:r>
                    </a:p>
                  </a:txBody>
                  <a:tcPr marL="11430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43,4 %</a:t>
                      </a:r>
                    </a:p>
                  </a:txBody>
                  <a:tcPr marL="114300" marR="95250" marT="95250" marB="9525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9EDA97B0-5079-480A-83DA-22B0BBCB23BF}"/>
              </a:ext>
            </a:extLst>
          </p:cNvPr>
          <p:cNvSpPr>
            <a:spLocks noGrp="1"/>
          </p:cNvSpPr>
          <p:nvPr/>
        </p:nvSpPr>
        <p:spPr>
          <a:xfrm>
            <a:off x="590550" y="5410200"/>
            <a:ext cx="110299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250" b="1">
                <a:solidFill>
                  <a:srgbClr val="008B80"/>
                </a:solidFill>
                <a:latin typeface="Nimbus Sans"/>
                <a:ea typeface="Nimbus Sans"/>
                <a:cs typeface="Nimbus Sans"/>
              </a:defRPr>
            </a:pPr>
            <a:r>
              <a:rPr lang="es-ES" dirty="0"/>
              <a:t>Deutsche Bank hay un 38,7 % sin opinión</a:t>
            </a:r>
            <a:endParaRPr sz="2250" b="1" dirty="0">
              <a:solidFill>
                <a:srgbClr val="008B80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D31CFF5-83DE-41F9-B743-6DE11C504D70}"/>
              </a:ext>
            </a:extLst>
          </p:cNvPr>
          <p:cNvSpPr>
            <a:spLocks noGrp="1"/>
          </p:cNvSpPr>
          <p:nvPr/>
        </p:nvSpPr>
        <p:spPr>
          <a:xfrm>
            <a:off x="590550" y="5848350"/>
            <a:ext cx="10858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650" b="0">
                <a:solidFill>
                  <a:srgbClr val="173246"/>
                </a:solidFill>
                <a:latin typeface="Nimbus Sans"/>
                <a:ea typeface="Nimbus Sans"/>
                <a:cs typeface="Nimbus Sans"/>
              </a:defRPr>
            </a:pPr>
            <a:r>
              <a:rPr lang="es-ES" dirty="0" smtClean="0"/>
              <a:t>No </a:t>
            </a:r>
            <a:r>
              <a:rPr lang="es-ES" dirty="0"/>
              <a:t>equivale a una respuesta negativa</a:t>
            </a:r>
            <a:endParaRPr sz="1650" b="0" dirty="0">
              <a:solidFill>
                <a:srgbClr val="173246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43BECF8-A3A5-4E23-89CC-326508BD666B}"/>
              </a:ext>
            </a:extLst>
          </p:cNvPr>
          <p:cNvSpPr>
            <a:spLocks noGrp="1"/>
          </p:cNvSpPr>
          <p:nvPr/>
        </p:nvSpPr>
        <p:spPr>
          <a:xfrm>
            <a:off x="552450" y="62865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125" b="0">
                <a:solidFill>
                  <a:srgbClr val="60738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07381"/>
                </a:solidFill>
                <a:latin typeface="Nimbus Sans"/>
                <a:ea typeface="Nimbus Sans"/>
                <a:cs typeface="Nimbus Sans"/>
              </a:rPr>
              <a:t>EDA: 55.152 reseñas. Media de peers con igual peso por banco. 2018 y 2023 son parciales. Eje del gráfico ampliado.</a:t>
            </a:r>
          </a:p>
        </p:txBody>
      </p:sp>
    </p:spTree>
    <p:extLst>
      <p:ext uri="{BB962C8B-B14F-4D97-AF65-F5344CB8AC3E}">
        <p14:creationId xmlns:p14="http://schemas.microsoft.com/office/powerpoint/2010/main" val="1972133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58504B61-6A21-4D3D-9339-1483EBD9963C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11049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225" b="1">
                <a:solidFill>
                  <a:srgbClr val="173246"/>
                </a:solidFill>
                <a:latin typeface="Nimbus Sans"/>
                <a:ea typeface="Nimbus Sans"/>
                <a:cs typeface="Nimbus Sans"/>
              </a:defRPr>
            </a:pPr>
            <a:r>
              <a:rPr sz="3225" b="1">
                <a:solidFill>
                  <a:srgbClr val="173246"/>
                </a:solidFill>
                <a:latin typeface="Nimbus Sans"/>
                <a:ea typeface="Nimbus Sans"/>
                <a:cs typeface="Nimbus Sans"/>
              </a:rPr>
              <a:t>Sentimiento y temas: dos análisis complementarios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BFC06D3-6E5E-425A-895E-893962400633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00" b="0">
                <a:solidFill>
                  <a:srgbClr val="60738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07381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D0A4AAC-4ADC-4EAD-8F4B-25D8958F324C}"/>
              </a:ext>
            </a:extLst>
          </p:cNvPr>
          <p:cNvSpPr>
            <a:spLocks noGrp="1"/>
          </p:cNvSpPr>
          <p:nvPr/>
        </p:nvSpPr>
        <p:spPr>
          <a:xfrm>
            <a:off x="590550" y="1438275"/>
            <a:ext cx="10382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625" b="1">
                <a:solidFill>
                  <a:srgbClr val="008B80"/>
                </a:solidFill>
                <a:latin typeface="Nimbus Sans"/>
                <a:ea typeface="Nimbus Sans"/>
                <a:cs typeface="Nimbus Sans"/>
              </a:defRPr>
            </a:pPr>
            <a:r>
              <a:rPr sz="2625" b="1">
                <a:solidFill>
                  <a:srgbClr val="008B80"/>
                </a:solidFill>
                <a:latin typeface="Nimbus Sans"/>
                <a:ea typeface="Nimbus Sans"/>
                <a:cs typeface="Nimbus Sans"/>
              </a:rPr>
              <a:t>10.000 reseñas para NLP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769C6-958F-4400-BC4C-ACFB63C15A51}"/>
              </a:ext>
            </a:extLst>
          </p:cNvPr>
          <p:cNvSpPr>
            <a:spLocks noGrp="1"/>
          </p:cNvSpPr>
          <p:nvPr/>
        </p:nvSpPr>
        <p:spPr>
          <a:xfrm>
            <a:off x="590550" y="1914525"/>
            <a:ext cx="108585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173246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73246"/>
                </a:solidFill>
                <a:latin typeface="Nimbus Sans"/>
                <a:ea typeface="Nimbus Sans"/>
                <a:cs typeface="Nimbus Sans"/>
              </a:rPr>
              <a:t>2.000 por banco, con reparto proporcional por año y semilla fija</a:t>
            </a:r>
          </a:p>
        </p:txBody>
      </p:sp>
      <p:graphicFrame>
        <p:nvGraphicFramePr>
          <p:cNvPr id="13" name="Tabla 12"/>
          <p:cNvGraphicFramePr/>
          <p:nvPr/>
        </p:nvGraphicFramePr>
        <p:xfrm>
          <a:off x="590550" y="2533650"/>
          <a:ext cx="11029950" cy="2371725"/>
        </p:xfrm>
        <a:graphic>
          <a:graphicData uri="http://schemas.openxmlformats.org/drawingml/2006/table">
            <a:tbl>
              <a:tblPr/>
              <a:tblGrid>
                <a:gridCol w="211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0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Método</a:t>
                      </a:r>
                    </a:p>
                  </a:txBody>
                  <a:tcPr marL="114300" marR="95250" marT="95250" marB="95250">
                    <a:solidFill>
                      <a:srgbClr val="15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Para qué sirve</a:t>
                      </a:r>
                    </a:p>
                  </a:txBody>
                  <a:tcPr marL="114300" marR="95250" marT="95250" marB="95250">
                    <a:solidFill>
                      <a:srgbClr val="15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Resultado</a:t>
                      </a:r>
                    </a:p>
                  </a:txBody>
                  <a:tcPr marL="114300" marR="95250" marT="95250" marB="95250">
                    <a:solidFill>
                      <a:srgbClr val="153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DistilBERT</a:t>
                      </a:r>
                    </a:p>
                    <a:p>
                      <a:r>
                        <a:rPr sz="1725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Sentimiento</a:t>
                      </a:r>
                    </a:p>
                  </a:txBody>
                  <a:tcPr marL="11430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Comprobar el tono de pros y cons</a:t>
                      </a:r>
                    </a:p>
                    <a:p>
                      <a:r>
                        <a:rPr sz="1725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y revisar los casos discordantes</a:t>
                      </a:r>
                    </a:p>
                  </a:txBody>
                  <a:tcPr marL="11430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Pros positivos: 92,5–94,3 %</a:t>
                      </a:r>
                    </a:p>
                    <a:p>
                      <a:r>
                        <a:rPr sz="1725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Cons negativos: 78,8–85,0 %</a:t>
                      </a:r>
                    </a:p>
                  </a:txBody>
                  <a:tcPr marL="114300" marR="95250" marT="95250" marB="9525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BERTopic</a:t>
                      </a:r>
                    </a:p>
                    <a:p>
                      <a:r>
                        <a:rPr sz="1725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Temas</a:t>
                      </a:r>
                    </a:p>
                  </a:txBody>
                  <a:tcPr marL="114300" marR="95250" marT="95250" marB="95250">
                    <a:solidFill>
                      <a:srgbClr val="ED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Agrupar textos similares y revisar</a:t>
                      </a:r>
                    </a:p>
                    <a:p>
                      <a:r>
                        <a:rPr sz="1725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su categoría de negocio</a:t>
                      </a:r>
                    </a:p>
                  </a:txBody>
                  <a:tcPr marL="114300" marR="95250" marT="95250" marB="95250">
                    <a:solidFill>
                      <a:srgbClr val="ED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42 temas en pros</a:t>
                      </a:r>
                    </a:p>
                    <a:p>
                      <a:r>
                        <a:rPr sz="1725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38 temas en cons</a:t>
                      </a:r>
                    </a:p>
                  </a:txBody>
                  <a:tcPr marL="114300" marR="95250" marT="95250" marB="95250">
                    <a:solidFill>
                      <a:srgbClr val="ED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8608C3B9-F2CD-45ED-8780-D0EB2C0CE3D8}"/>
              </a:ext>
            </a:extLst>
          </p:cNvPr>
          <p:cNvSpPr>
            <a:spLocks noGrp="1"/>
          </p:cNvSpPr>
          <p:nvPr/>
        </p:nvSpPr>
        <p:spPr>
          <a:xfrm>
            <a:off x="590550" y="5219700"/>
            <a:ext cx="10858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1">
                <a:solidFill>
                  <a:srgbClr val="173246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173246"/>
                </a:solidFill>
                <a:latin typeface="Nimbus Sans"/>
                <a:ea typeface="Nimbus Sans"/>
                <a:cs typeface="Nimbus Sans"/>
              </a:rPr>
              <a:t>Un modelo común para pros y otro para cons, con los cinco bancos juntos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D0922AC-7CE8-4FE8-B74E-113C068385E7}"/>
              </a:ext>
            </a:extLst>
          </p:cNvPr>
          <p:cNvSpPr>
            <a:spLocks noGrp="1"/>
          </p:cNvSpPr>
          <p:nvPr/>
        </p:nvSpPr>
        <p:spPr>
          <a:xfrm>
            <a:off x="590550" y="5810250"/>
            <a:ext cx="108204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0">
                <a:solidFill>
                  <a:srgbClr val="173246"/>
                </a:solidFill>
                <a:latin typeface="Nimbus Sans"/>
                <a:ea typeface="Nimbus Sans"/>
                <a:cs typeface="Nimbus Sans"/>
              </a:defRPr>
            </a:pPr>
            <a:r>
              <a:rPr lang="es-ES" sz="1725" dirty="0"/>
              <a:t>Conservamos los textos sin tema asignado: 28,2 % en pros y 27,9 % en </a:t>
            </a:r>
            <a:r>
              <a:rPr lang="es-ES" sz="1725" dirty="0" err="1"/>
              <a:t>cons</a:t>
            </a:r>
            <a:r>
              <a:rPr lang="es-ES" sz="1725" dirty="0"/>
              <a:t>.</a:t>
            </a:r>
            <a:endParaRPr sz="1725" b="0" dirty="0">
              <a:solidFill>
                <a:srgbClr val="173246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59DA3C9-FAD0-451B-BD21-F38FE10D1D57}"/>
              </a:ext>
            </a:extLst>
          </p:cNvPr>
          <p:cNvSpPr>
            <a:spLocks noGrp="1"/>
          </p:cNvSpPr>
          <p:nvPr/>
        </p:nvSpPr>
        <p:spPr>
          <a:xfrm>
            <a:off x="552450" y="62865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125" b="0">
                <a:solidFill>
                  <a:srgbClr val="60738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dirty="0">
                <a:solidFill>
                  <a:srgbClr val="607381"/>
                </a:solidFill>
                <a:latin typeface="Nimbus Sans"/>
                <a:ea typeface="Nimbus Sans"/>
                <a:cs typeface="Nimbus Sans"/>
              </a:rPr>
              <a:t>Los </a:t>
            </a:r>
            <a:r>
              <a:rPr sz="1125" b="0" dirty="0" err="1">
                <a:solidFill>
                  <a:srgbClr val="607381"/>
                </a:solidFill>
                <a:latin typeface="Nimbus Sans"/>
                <a:ea typeface="Nimbus Sans"/>
                <a:cs typeface="Nimbus Sans"/>
              </a:rPr>
              <a:t>porcentajes</a:t>
            </a:r>
            <a:r>
              <a:rPr sz="1125" b="0" dirty="0">
                <a:solidFill>
                  <a:srgbClr val="607381"/>
                </a:solidFill>
                <a:latin typeface="Nimbus Sans"/>
                <a:ea typeface="Nimbus Sans"/>
                <a:cs typeface="Nimbus Sans"/>
              </a:rPr>
              <a:t> de </a:t>
            </a:r>
            <a:r>
              <a:rPr sz="1125" b="0" dirty="0" err="1">
                <a:solidFill>
                  <a:srgbClr val="607381"/>
                </a:solidFill>
                <a:latin typeface="Nimbus Sans"/>
                <a:ea typeface="Nimbus Sans"/>
                <a:cs typeface="Nimbus Sans"/>
              </a:rPr>
              <a:t>sentimiento</a:t>
            </a:r>
            <a:r>
              <a:rPr sz="1125" b="0" dirty="0">
                <a:solidFill>
                  <a:srgbClr val="607381"/>
                </a:solidFill>
                <a:latin typeface="Nimbus Sans"/>
                <a:ea typeface="Nimbus Sans"/>
                <a:cs typeface="Nimbus Sans"/>
              </a:rPr>
              <a:t> </a:t>
            </a:r>
            <a:r>
              <a:rPr sz="1125" b="0" dirty="0" err="1">
                <a:solidFill>
                  <a:srgbClr val="607381"/>
                </a:solidFill>
                <a:latin typeface="Nimbus Sans"/>
                <a:ea typeface="Nimbus Sans"/>
                <a:cs typeface="Nimbus Sans"/>
              </a:rPr>
              <a:t>miden</a:t>
            </a:r>
            <a:r>
              <a:rPr sz="1125" b="0" dirty="0">
                <a:solidFill>
                  <a:srgbClr val="607381"/>
                </a:solidFill>
                <a:latin typeface="Nimbus Sans"/>
                <a:ea typeface="Nimbus Sans"/>
                <a:cs typeface="Nimbus Sans"/>
              </a:rPr>
              <a:t> </a:t>
            </a:r>
            <a:r>
              <a:rPr sz="1125" b="0" dirty="0" err="1">
                <a:solidFill>
                  <a:srgbClr val="607381"/>
                </a:solidFill>
                <a:latin typeface="Nimbus Sans"/>
                <a:ea typeface="Nimbus Sans"/>
                <a:cs typeface="Nimbus Sans"/>
              </a:rPr>
              <a:t>concordancia</a:t>
            </a:r>
            <a:r>
              <a:rPr sz="1125" b="0" dirty="0">
                <a:solidFill>
                  <a:srgbClr val="607381"/>
                </a:solidFill>
                <a:latin typeface="Nimbus Sans"/>
                <a:ea typeface="Nimbus Sans"/>
                <a:cs typeface="Nimbus Sans"/>
              </a:rPr>
              <a:t> con el campo, no </a:t>
            </a:r>
            <a:r>
              <a:rPr sz="1125" b="0" dirty="0" err="1">
                <a:solidFill>
                  <a:srgbClr val="607381"/>
                </a:solidFill>
                <a:latin typeface="Nimbus Sans"/>
                <a:ea typeface="Nimbus Sans"/>
                <a:cs typeface="Nimbus Sans"/>
              </a:rPr>
              <a:t>exactitud</a:t>
            </a:r>
            <a:r>
              <a:rPr sz="1125" b="0" dirty="0">
                <a:solidFill>
                  <a:srgbClr val="607381"/>
                </a:solidFill>
                <a:latin typeface="Nimbus Sans"/>
                <a:ea typeface="Nimbus Sans"/>
                <a:cs typeface="Nimbus Sans"/>
              </a:rPr>
              <a:t> del </a:t>
            </a:r>
            <a:r>
              <a:rPr sz="1125" b="0" dirty="0" err="1">
                <a:solidFill>
                  <a:srgbClr val="607381"/>
                </a:solidFill>
                <a:latin typeface="Nimbus Sans"/>
                <a:ea typeface="Nimbus Sans"/>
                <a:cs typeface="Nimbus Sans"/>
              </a:rPr>
              <a:t>modelo</a:t>
            </a:r>
            <a:r>
              <a:rPr sz="1125" b="0" dirty="0" smtClean="0">
                <a:solidFill>
                  <a:srgbClr val="607381"/>
                </a:solidFill>
                <a:latin typeface="Nimbus Sans"/>
                <a:ea typeface="Nimbus Sans"/>
                <a:cs typeface="Nimbus Sans"/>
              </a:rPr>
              <a:t>.</a:t>
            </a:r>
            <a:endParaRPr sz="1125" b="0" dirty="0">
              <a:solidFill>
                <a:srgbClr val="607381"/>
              </a:solidFill>
              <a:latin typeface="Nimbus Sans"/>
              <a:ea typeface="Nimbus Sans"/>
              <a:cs typeface="Nimbus Sans"/>
            </a:endParaRPr>
          </a:p>
        </p:txBody>
      </p:sp>
    </p:spTree>
    <p:extLst>
      <p:ext uri="{BB962C8B-B14F-4D97-AF65-F5344CB8AC3E}">
        <p14:creationId xmlns:p14="http://schemas.microsoft.com/office/powerpoint/2010/main" val="1974108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86F1576B-5F97-45CA-A47F-085398ED2249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11049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225" b="1">
                <a:solidFill>
                  <a:srgbClr val="173246"/>
                </a:solidFill>
                <a:latin typeface="Nimbus Sans"/>
                <a:ea typeface="Nimbus Sans"/>
                <a:cs typeface="Nimbus Sans"/>
              </a:defRPr>
            </a:pPr>
            <a:r>
              <a:rPr sz="3225" b="1">
                <a:solidFill>
                  <a:srgbClr val="173246"/>
                </a:solidFill>
                <a:latin typeface="Nimbus Sans"/>
                <a:ea typeface="Nimbus Sans"/>
                <a:cs typeface="Nimbus Sans"/>
              </a:rPr>
              <a:t>Conciliación destaca, compensación queda atrás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CAD8314-0A10-4A04-AFAC-6E174B027FA3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00" b="0">
                <a:solidFill>
                  <a:srgbClr val="60738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07381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5BEB287-BD57-4ED1-97AE-86A27D33D460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6858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1">
                <a:solidFill>
                  <a:srgbClr val="173246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73246"/>
                </a:solidFill>
                <a:latin typeface="Nimbus Sans"/>
                <a:ea typeface="Nimbus Sans"/>
                <a:cs typeface="Nimbus Sans"/>
              </a:rPr>
              <a:t>Gap del balance frente a competidores (pp)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381000" y="1914525"/>
          <a:ext cx="7048500" cy="327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AF52CFD4-4BE7-4FF3-89F3-213BD93CDDC7}"/>
              </a:ext>
            </a:extLst>
          </p:cNvPr>
          <p:cNvSpPr>
            <a:spLocks noGrp="1"/>
          </p:cNvSpPr>
          <p:nvPr/>
        </p:nvSpPr>
        <p:spPr>
          <a:xfrm>
            <a:off x="7905750" y="1428750"/>
            <a:ext cx="3762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1">
                <a:solidFill>
                  <a:srgbClr val="173246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173246"/>
                </a:solidFill>
                <a:latin typeface="Nimbus Sans"/>
                <a:ea typeface="Nimbus Sans"/>
                <a:cs typeface="Nimbus Sans"/>
              </a:rPr>
              <a:t>Contraste con el rating</a:t>
            </a:r>
          </a:p>
        </p:txBody>
      </p:sp>
      <p:graphicFrame>
        <p:nvGraphicFramePr>
          <p:cNvPr id="15" name="Tabla 14"/>
          <p:cNvGraphicFramePr/>
          <p:nvPr/>
        </p:nvGraphicFramePr>
        <p:xfrm>
          <a:off x="7791450" y="1981200"/>
          <a:ext cx="3895725" cy="2505075"/>
        </p:xfrm>
        <a:graphic>
          <a:graphicData uri="http://schemas.openxmlformats.org/drawingml/2006/table">
            <a:tbl>
              <a:tblPr/>
              <a:tblGrid>
                <a:gridCol w="258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101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Queja en cons</a:t>
                      </a:r>
                    </a:p>
                  </a:txBody>
                  <a:tcPr marL="114300" marR="95250" marT="95250" marB="95250">
                    <a:solidFill>
                      <a:srgbClr val="15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Rating*</a:t>
                      </a:r>
                    </a:p>
                  </a:txBody>
                  <a:tcPr marL="114300" marR="95250" marT="95250" marB="95250">
                    <a:solidFill>
                      <a:srgbClr val="153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Compensación</a:t>
                      </a:r>
                    </a:p>
                  </a:txBody>
                  <a:tcPr marL="11430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−0,01</a:t>
                      </a:r>
                    </a:p>
                  </a:txBody>
                  <a:tcPr marL="114300" marR="95250" marT="95250" marB="9525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Carrera</a:t>
                      </a:r>
                    </a:p>
                  </a:txBody>
                  <a:tcPr marL="114300" marR="95250" marT="95250" marB="95250">
                    <a:solidFill>
                      <a:srgbClr val="ED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+0,10</a:t>
                      </a:r>
                    </a:p>
                  </a:txBody>
                  <a:tcPr marL="114300" marR="95250" marT="95250" marB="95250">
                    <a:solidFill>
                      <a:srgbClr val="ED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Cultura</a:t>
                      </a:r>
                    </a:p>
                  </a:txBody>
                  <a:tcPr marL="11430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−0,68</a:t>
                      </a:r>
                    </a:p>
                  </a:txBody>
                  <a:tcPr marL="114300" marR="95250" marT="95250" marB="9525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Dirección</a:t>
                      </a:r>
                    </a:p>
                  </a:txBody>
                  <a:tcPr marL="114300" marR="95250" marT="95250" marB="95250">
                    <a:solidFill>
                      <a:srgbClr val="ED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−0,53</a:t>
                      </a:r>
                    </a:p>
                  </a:txBody>
                  <a:tcPr marL="114300" marR="95250" marT="95250" marB="95250">
                    <a:solidFill>
                      <a:srgbClr val="ED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C2848DE2-3E30-4854-9E49-A0ABB05EDC13}"/>
              </a:ext>
            </a:extLst>
          </p:cNvPr>
          <p:cNvSpPr>
            <a:spLocks noGrp="1"/>
          </p:cNvSpPr>
          <p:nvPr/>
        </p:nvSpPr>
        <p:spPr>
          <a:xfrm>
            <a:off x="7905750" y="4762500"/>
            <a:ext cx="3714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1">
                <a:solidFill>
                  <a:srgbClr val="BF593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BF593E"/>
                </a:solidFill>
                <a:latin typeface="Nimbus Sans"/>
                <a:ea typeface="Nimbus Sans"/>
                <a:cs typeface="Nimbus Sans"/>
              </a:rPr>
              <a:t>La desventaja competitiva no implica</a:t>
            </a:r>
          </a:p>
          <a:p>
            <a:pPr>
              <a:defRPr sz="1800" b="1">
                <a:solidFill>
                  <a:srgbClr val="BF593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BF593E"/>
                </a:solidFill>
                <a:latin typeface="Nimbus Sans"/>
                <a:ea typeface="Nimbus Sans"/>
                <a:cs typeface="Nimbus Sans"/>
              </a:rPr>
              <a:t>siempre peor puntuación.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5207333-033C-4E40-8B91-0FC4A8292748}"/>
              </a:ext>
            </a:extLst>
          </p:cNvPr>
          <p:cNvSpPr>
            <a:spLocks noGrp="1"/>
          </p:cNvSpPr>
          <p:nvPr/>
        </p:nvSpPr>
        <p:spPr>
          <a:xfrm>
            <a:off x="590550" y="5562600"/>
            <a:ext cx="109061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725" b="0">
                <a:solidFill>
                  <a:srgbClr val="173246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173246"/>
                </a:solidFill>
                <a:latin typeface="Nimbus Sans"/>
                <a:ea typeface="Nimbus Sans"/>
                <a:cs typeface="Nimbus Sans"/>
              </a:rPr>
              <a:t>Balance = % en pros − % en cons. Gap = balance DB − media de los peers.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061BE70-CC09-460A-8A31-807FEFDC5984}"/>
              </a:ext>
            </a:extLst>
          </p:cNvPr>
          <p:cNvSpPr>
            <a:spLocks noGrp="1"/>
          </p:cNvSpPr>
          <p:nvPr/>
        </p:nvSpPr>
        <p:spPr>
          <a:xfrm>
            <a:off x="552450" y="62865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125" b="0">
                <a:solidFill>
                  <a:srgbClr val="60738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07381"/>
                </a:solidFill>
                <a:latin typeface="Nimbus Sans"/>
                <a:ea typeface="Nimbus Sans"/>
                <a:cs typeface="Nimbus Sans"/>
              </a:rPr>
              <a:t>*Diferencia de rating respecto al resto de reseñas de DB. Análisis descriptivo, sin atribuir causas. pp = puntos porcentuales.</a:t>
            </a:r>
          </a:p>
        </p:txBody>
      </p:sp>
    </p:spTree>
    <p:extLst>
      <p:ext uri="{BB962C8B-B14F-4D97-AF65-F5344CB8AC3E}">
        <p14:creationId xmlns:p14="http://schemas.microsoft.com/office/powerpoint/2010/main" val="2034276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826DD49D-1393-45C2-BD56-0020C48E2B76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11049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225" b="1">
                <a:solidFill>
                  <a:srgbClr val="173246"/>
                </a:solidFill>
                <a:latin typeface="Nimbus Sans"/>
                <a:ea typeface="Nimbus Sans"/>
                <a:cs typeface="Nimbus Sans"/>
              </a:defRPr>
            </a:pPr>
            <a:r>
              <a:rPr sz="3225" b="1">
                <a:solidFill>
                  <a:srgbClr val="173246"/>
                </a:solidFill>
                <a:latin typeface="Nimbus Sans"/>
                <a:ea typeface="Nimbus Sans"/>
                <a:cs typeface="Nimbus Sans"/>
              </a:rPr>
              <a:t>Compensación y carrera, prioridades de mejora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B9B62F8-C9C1-4C3B-AC0E-9D4F4DA4CEAC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00" b="0">
                <a:solidFill>
                  <a:srgbClr val="60738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07381"/>
                </a:solidFill>
                <a:latin typeface="Nimbus Sans"/>
                <a:ea typeface="Nimbus Sans"/>
                <a:cs typeface="Nimbus Sans"/>
              </a:rPr>
              <a:t>05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C1104A1-C9BB-45DF-A58B-44F8EDE16828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6667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950" b="1">
                <a:solidFill>
                  <a:srgbClr val="173246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173246"/>
                </a:solidFill>
                <a:latin typeface="Nimbus Sans"/>
                <a:ea typeface="Nimbus Sans"/>
                <a:cs typeface="Nimbus Sans"/>
              </a:rPr>
              <a:t>Matriz de priorización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428625" y="1933575"/>
          <a:ext cx="7038975" cy="3695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78BF3650-C47C-4317-99DC-56BACF1C236D}"/>
              </a:ext>
            </a:extLst>
          </p:cNvPr>
          <p:cNvSpPr>
            <a:spLocks noGrp="1"/>
          </p:cNvSpPr>
          <p:nvPr/>
        </p:nvSpPr>
        <p:spPr>
          <a:xfrm>
            <a:off x="7953375" y="1428750"/>
            <a:ext cx="37528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950" b="1">
                <a:solidFill>
                  <a:srgbClr val="173246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173246"/>
                </a:solidFill>
                <a:latin typeface="Nimbus Sans"/>
                <a:ea typeface="Nimbus Sans"/>
                <a:cs typeface="Nimbus Sans"/>
              </a:rPr>
              <a:t>Cons de antiguos empleados</a:t>
            </a:r>
          </a:p>
        </p:txBody>
      </p:sp>
      <p:graphicFrame>
        <p:nvGraphicFramePr>
          <p:cNvPr id="15" name="Tabla 14"/>
          <p:cNvGraphicFramePr/>
          <p:nvPr/>
        </p:nvGraphicFramePr>
        <p:xfrm>
          <a:off x="7781925" y="2143125"/>
          <a:ext cx="3933825" cy="2133600"/>
        </p:xfrm>
        <a:graphic>
          <a:graphicData uri="http://schemas.openxmlformats.org/drawingml/2006/table">
            <a:tbl>
              <a:tblPr/>
              <a:tblGrid>
                <a:gridCol w="2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Categoría</a:t>
                      </a:r>
                    </a:p>
                  </a:txBody>
                  <a:tcPr marL="114300" marR="95250" marT="95250" marB="95250">
                    <a:solidFill>
                      <a:srgbClr val="15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DB</a:t>
                      </a:r>
                    </a:p>
                  </a:txBody>
                  <a:tcPr marL="114300" marR="95250" marT="95250" marB="95250">
                    <a:solidFill>
                      <a:srgbClr val="15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Peers</a:t>
                      </a:r>
                    </a:p>
                  </a:txBody>
                  <a:tcPr marL="114300" marR="95250" marT="95250" marB="95250">
                    <a:solidFill>
                      <a:srgbClr val="153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Compensación</a:t>
                      </a:r>
                    </a:p>
                  </a:txBody>
                  <a:tcPr marL="11430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7,8 %</a:t>
                      </a:r>
                    </a:p>
                  </a:txBody>
                  <a:tcPr marL="11430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6,7 %</a:t>
                      </a:r>
                    </a:p>
                  </a:txBody>
                  <a:tcPr marL="114300" marR="95250" marT="95250" marB="9525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Estabilidad</a:t>
                      </a:r>
                    </a:p>
                  </a:txBody>
                  <a:tcPr marL="114300" marR="95250" marT="95250" marB="95250">
                    <a:solidFill>
                      <a:srgbClr val="ED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1,7 %</a:t>
                      </a:r>
                    </a:p>
                  </a:txBody>
                  <a:tcPr marL="114300" marR="95250" marT="95250" marB="95250">
                    <a:solidFill>
                      <a:srgbClr val="ED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0,4 %</a:t>
                      </a:r>
                    </a:p>
                  </a:txBody>
                  <a:tcPr marL="114300" marR="95250" marT="95250" marB="95250">
                    <a:solidFill>
                      <a:srgbClr val="ED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Conciliación</a:t>
                      </a:r>
                    </a:p>
                  </a:txBody>
                  <a:tcPr marL="11430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10,9 %</a:t>
                      </a:r>
                    </a:p>
                  </a:txBody>
                  <a:tcPr marL="11430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15,5 %</a:t>
                      </a:r>
                    </a:p>
                  </a:txBody>
                  <a:tcPr marL="114300" marR="95250" marT="95250" marB="9525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EA34C2E8-5E18-4896-A17D-330AA73F63BB}"/>
              </a:ext>
            </a:extLst>
          </p:cNvPr>
          <p:cNvSpPr>
            <a:spLocks noGrp="1"/>
          </p:cNvSpPr>
          <p:nvPr/>
        </p:nvSpPr>
        <p:spPr>
          <a:xfrm>
            <a:off x="7943850" y="4629150"/>
            <a:ext cx="364807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1">
                <a:solidFill>
                  <a:srgbClr val="BF593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BF593E"/>
                </a:solidFill>
                <a:latin typeface="Nimbus Sans"/>
                <a:ea typeface="Nimbus Sans"/>
                <a:cs typeface="Nimbus Sans"/>
              </a:rPr>
              <a:t>Compensación gana peso en DB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6F24BBC-A43E-4112-89CB-910832D5B53D}"/>
              </a:ext>
            </a:extLst>
          </p:cNvPr>
          <p:cNvSpPr>
            <a:spLocks noGrp="1"/>
          </p:cNvSpPr>
          <p:nvPr/>
        </p:nvSpPr>
        <p:spPr>
          <a:xfrm>
            <a:off x="7943850" y="5248275"/>
            <a:ext cx="37147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950" b="0">
                <a:solidFill>
                  <a:srgbClr val="173246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 dirty="0">
                <a:solidFill>
                  <a:srgbClr val="173246"/>
                </a:solidFill>
                <a:latin typeface="Nimbus Sans"/>
                <a:ea typeface="Nimbus Sans"/>
                <a:cs typeface="Nimbus Sans"/>
              </a:rPr>
              <a:t>7,7 % </a:t>
            </a:r>
            <a:r>
              <a:rPr sz="1950" b="0" dirty="0" err="1">
                <a:solidFill>
                  <a:srgbClr val="173246"/>
                </a:solidFill>
                <a:latin typeface="Nimbus Sans"/>
                <a:ea typeface="Nimbus Sans"/>
                <a:cs typeface="Nimbus Sans"/>
              </a:rPr>
              <a:t>en</a:t>
            </a:r>
            <a:r>
              <a:rPr sz="1950" b="0" dirty="0">
                <a:solidFill>
                  <a:srgbClr val="173246"/>
                </a:solidFill>
                <a:latin typeface="Nimbus Sans"/>
                <a:ea typeface="Nimbus Sans"/>
                <a:cs typeface="Nimbus Sans"/>
              </a:rPr>
              <a:t> 2018–2020</a:t>
            </a:r>
          </a:p>
          <a:p>
            <a:pPr>
              <a:defRPr sz="1950" b="0">
                <a:solidFill>
                  <a:srgbClr val="173246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 dirty="0">
                <a:solidFill>
                  <a:srgbClr val="173246"/>
                </a:solidFill>
                <a:latin typeface="Nimbus Sans"/>
                <a:ea typeface="Nimbus Sans"/>
                <a:cs typeface="Nimbus Sans"/>
              </a:rPr>
              <a:t>10,3 % </a:t>
            </a:r>
            <a:r>
              <a:rPr sz="1950" b="0" dirty="0" err="1">
                <a:solidFill>
                  <a:srgbClr val="173246"/>
                </a:solidFill>
                <a:latin typeface="Nimbus Sans"/>
                <a:ea typeface="Nimbus Sans"/>
                <a:cs typeface="Nimbus Sans"/>
              </a:rPr>
              <a:t>en</a:t>
            </a:r>
            <a:r>
              <a:rPr sz="1950" b="0" dirty="0">
                <a:solidFill>
                  <a:srgbClr val="173246"/>
                </a:solidFill>
                <a:latin typeface="Nimbus Sans"/>
                <a:ea typeface="Nimbus Sans"/>
                <a:cs typeface="Nimbus Sans"/>
              </a:rPr>
              <a:t> 2021–2023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0388893-AC58-4218-A3F0-BF30277CF522}"/>
              </a:ext>
            </a:extLst>
          </p:cNvPr>
          <p:cNvSpPr>
            <a:spLocks noGrp="1"/>
          </p:cNvSpPr>
          <p:nvPr/>
        </p:nvSpPr>
        <p:spPr>
          <a:xfrm>
            <a:off x="552450" y="62865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125" b="0">
                <a:solidFill>
                  <a:srgbClr val="60738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07381"/>
                </a:solidFill>
                <a:latin typeface="Nimbus Sans"/>
                <a:ea typeface="Nimbus Sans"/>
                <a:cs typeface="Nimbus Sans"/>
              </a:rPr>
              <a:t>Desventaja = máximo entre −gap y 0. Otras categorías en gris. Las reseñas de antiguos empleados no prueban motivos de salida.</a:t>
            </a:r>
          </a:p>
        </p:txBody>
      </p:sp>
    </p:spTree>
    <p:extLst>
      <p:ext uri="{BB962C8B-B14F-4D97-AF65-F5344CB8AC3E}">
        <p14:creationId xmlns:p14="http://schemas.microsoft.com/office/powerpoint/2010/main" val="860763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46DD9B0D-874F-487A-9D47-963EA3A2E293}"/>
              </a:ext>
            </a:extLst>
          </p:cNvPr>
          <p:cNvSpPr>
            <a:spLocks noGrp="1"/>
          </p:cNvSpPr>
          <p:nvPr/>
        </p:nvSpPr>
        <p:spPr>
          <a:xfrm>
            <a:off x="552450" y="381000"/>
            <a:ext cx="11049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225" b="1">
                <a:solidFill>
                  <a:srgbClr val="173246"/>
                </a:solidFill>
                <a:latin typeface="Nimbus Sans"/>
                <a:ea typeface="Nimbus Sans"/>
                <a:cs typeface="Nimbus Sans"/>
              </a:defRPr>
            </a:pPr>
            <a:r>
              <a:rPr sz="3225" b="1">
                <a:solidFill>
                  <a:srgbClr val="173246"/>
                </a:solidFill>
                <a:latin typeface="Nimbus Sans"/>
                <a:ea typeface="Nimbus Sans"/>
                <a:cs typeface="Nimbus Sans"/>
              </a:rPr>
              <a:t>Tres propuestas para RRHH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A2848AA-7535-43B2-8B5A-4B29097061EA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00" b="0">
                <a:solidFill>
                  <a:srgbClr val="607381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607381"/>
                </a:solidFill>
                <a:latin typeface="Nimbus Sans"/>
                <a:ea typeface="Nimbus Sans"/>
                <a:cs typeface="Nimbus Sans"/>
              </a:rPr>
              <a:t>06</a:t>
            </a:r>
          </a:p>
        </p:txBody>
      </p:sp>
      <p:graphicFrame>
        <p:nvGraphicFramePr>
          <p:cNvPr id="9" name="Tabla 8"/>
          <p:cNvGraphicFramePr/>
          <p:nvPr/>
        </p:nvGraphicFramePr>
        <p:xfrm>
          <a:off x="590550" y="1524000"/>
          <a:ext cx="11029950" cy="3048000"/>
        </p:xfrm>
        <a:graphic>
          <a:graphicData uri="http://schemas.openxmlformats.org/drawingml/2006/table">
            <a:tbl>
              <a:tblPr/>
              <a:tblGrid>
                <a:gridCol w="215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Prioridad</a:t>
                      </a:r>
                    </a:p>
                  </a:txBody>
                  <a:tcPr marL="114300" marR="95250" marT="95250" marB="95250">
                    <a:solidFill>
                      <a:srgbClr val="15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Acción propuesta</a:t>
                      </a:r>
                    </a:p>
                  </a:txBody>
                  <a:tcPr marL="114300" marR="95250" marT="95250" marB="95250">
                    <a:solidFill>
                      <a:srgbClr val="15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Cómo comprobarla</a:t>
                      </a:r>
                    </a:p>
                  </a:txBody>
                  <a:tcPr marL="114300" marR="95250" marT="95250" marB="95250">
                    <a:solidFill>
                      <a:srgbClr val="153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1. Compensación</a:t>
                      </a:r>
                    </a:p>
                  </a:txBody>
                  <a:tcPr marL="11430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Revisar salarios y beneficios</a:t>
                      </a:r>
                    </a:p>
                    <a:p>
                      <a:r>
                        <a:rPr sz="180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por puesto y mercado</a:t>
                      </a:r>
                    </a:p>
                  </a:txBody>
                  <a:tcPr marL="11430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Brecha salarial por perfil y</a:t>
                      </a:r>
                    </a:p>
                    <a:p>
                      <a:r>
                        <a:rPr sz="180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percepción del paquete total</a:t>
                      </a:r>
                    </a:p>
                  </a:txBody>
                  <a:tcPr marL="114300" marR="95250" marT="95250" marB="9525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2. Carrera</a:t>
                      </a:r>
                    </a:p>
                  </a:txBody>
                  <a:tcPr marL="114300" marR="95250" marT="95250" marB="95250">
                    <a:solidFill>
                      <a:srgbClr val="ED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Aclarar criterios de promoción</a:t>
                      </a:r>
                    </a:p>
                    <a:p>
                      <a:r>
                        <a:rPr sz="180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y oportunidades internas</a:t>
                      </a:r>
                    </a:p>
                  </a:txBody>
                  <a:tcPr marL="114300" marR="95250" marT="95250" marB="95250">
                    <a:solidFill>
                      <a:srgbClr val="ED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Movilidad interna y percepción</a:t>
                      </a:r>
                    </a:p>
                    <a:p>
                      <a:r>
                        <a:rPr sz="180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de oportunidades de desarrollo</a:t>
                      </a:r>
                    </a:p>
                  </a:txBody>
                  <a:tcPr marL="114300" marR="95250" marT="95250" marB="95250">
                    <a:solidFill>
                      <a:srgbClr val="ED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3. Herramientas</a:t>
                      </a:r>
                    </a:p>
                  </a:txBody>
                  <a:tcPr marL="11430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Pilotar mejoras en las tareas</a:t>
                      </a:r>
                    </a:p>
                    <a:p>
                      <a:r>
                        <a:rPr sz="180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con más fricción</a:t>
                      </a:r>
                    </a:p>
                  </a:txBody>
                  <a:tcPr marL="114300" marR="9525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Tiempo por tarea y satisfacción</a:t>
                      </a:r>
                    </a:p>
                    <a:p>
                      <a:r>
                        <a:rPr sz="1800">
                          <a:solidFill>
                            <a:srgbClr val="17324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con las herramientas</a:t>
                      </a:r>
                    </a:p>
                  </a:txBody>
                  <a:tcPr marL="114300" marR="95250" marT="95250" marB="9525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151F9AD6-108B-4995-9CE6-4CB8519B7F76}"/>
              </a:ext>
            </a:extLst>
          </p:cNvPr>
          <p:cNvSpPr>
            <a:spLocks noGrp="1"/>
          </p:cNvSpPr>
          <p:nvPr/>
        </p:nvSpPr>
        <p:spPr>
          <a:xfrm>
            <a:off x="590550" y="4905375"/>
            <a:ext cx="109537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008B80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008B80"/>
                </a:solidFill>
                <a:latin typeface="Nimbus Sans"/>
                <a:ea typeface="Nimbus Sans"/>
                <a:cs typeface="Nimbus Sans"/>
              </a:rPr>
              <a:t>Conciliación: fortaleza relativa que conviene conservar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5BD662E-5730-4758-AE91-8174EA9F548D}"/>
              </a:ext>
            </a:extLst>
          </p:cNvPr>
          <p:cNvSpPr>
            <a:spLocks noGrp="1"/>
          </p:cNvSpPr>
          <p:nvPr/>
        </p:nvSpPr>
        <p:spPr>
          <a:xfrm>
            <a:off x="552450" y="62865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125" b="0">
                <a:solidFill>
                  <a:srgbClr val="60738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07381"/>
                </a:solidFill>
                <a:latin typeface="Nimbus Sans"/>
                <a:ea typeface="Nimbus Sans"/>
                <a:cs typeface="Nimbus Sans"/>
              </a:rPr>
              <a:t>Reseñas históricas y voluntarias, con mezcla de países y puestos. Próximo paso: validar con datos internos antes de invertir.</a:t>
            </a:r>
          </a:p>
        </p:txBody>
      </p:sp>
    </p:spTree>
    <p:extLst>
      <p:ext uri="{BB962C8B-B14F-4D97-AF65-F5344CB8AC3E}">
        <p14:creationId xmlns:p14="http://schemas.microsoft.com/office/powerpoint/2010/main" val="1625886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540</Words>
  <Application>Microsoft Office PowerPoint</Application>
  <DocSecurity>0</DocSecurity>
  <PresentationFormat>Panorámica</PresentationFormat>
  <Paragraphs>122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Aptos</vt:lpstr>
      <vt:lpstr>Nimbus Sans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ALEX</cp:lastModifiedBy>
  <cp:revision>7</cp:revision>
  <dcterms:created xsi:type="dcterms:W3CDTF">2026-10-07T10:31:09Z</dcterms:created>
  <dcterms:modified xsi:type="dcterms:W3CDTF">2026-10-07T17:04:04Z</dcterms:modified>
</cp:coreProperties>
</file>